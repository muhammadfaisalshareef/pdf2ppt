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077" y="2248979"/>
            <a:ext cx="3211910" cy="358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latin typeface="Microsoft YaHei"/>
              </a:defRPr>
            </a:pPr>
            <a:r>
              <a:t>终端月报 (2026年第1期)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077" y="2790400"/>
            <a:ext cx="6040749" cy="916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700">
                <a:latin typeface="Microsoft YaHei"/>
              </a:defRPr>
            </a:pPr>
            <a:r>
              <a:t>TP-LINK监控篇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5077" y="3939879"/>
            <a:ext cx="5200937" cy="1232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500">
                <a:latin typeface="Microsoft YaHei"/>
              </a:defRPr>
            </a:pPr>
            <a:r>
              <a:t>第6代AI-ISP技术革新与专业选型指南</a:t>
            </a:r>
          </a:p>
        </p:txBody>
      </p:sp>
      <p:pic>
        <p:nvPicPr>
          <p:cNvPr id="5" name="Picture 4" descr="53b6f2ebbe08d27134cb54455f366d371172a2d51882f796d59c720479b6431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8429" y="1391035"/>
            <a:ext cx="7528836" cy="59389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077" y="7479940"/>
            <a:ext cx="2710970" cy="316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latin typeface="Microsoft YaHei"/>
              </a:defRPr>
            </a:pPr>
            <a:r>
              <a:t>省终端公司|2026年1月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7742" y="382772"/>
            <a:ext cx="13333848" cy="540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>
                <a:latin typeface="Microsoft YaHei"/>
              </a:defRPr>
            </a:pPr>
            <a:r>
              <a:t>【G系精选】第6代400万PoE筒型音频双光全彩摄像机 (TL-IPC548GP-W4)</a:t>
            </a:r>
          </a:p>
        </p:txBody>
      </p:sp>
      <p:pic>
        <p:nvPicPr>
          <p:cNvPr id="3" name="Picture 2" descr="df65e25d91e198c11e6dd5a5a2f7b920f27dceb319f39d7413a56714657c2d5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146" y="1447877"/>
            <a:ext cx="4979934" cy="4343631"/>
          </a:xfrm>
          <a:prstGeom prst="rect">
            <a:avLst/>
          </a:prstGeom>
        </p:spPr>
      </p:pic>
      <p:pic>
        <p:nvPicPr>
          <p:cNvPr id="4" name="Picture 3" descr="315e97efba9e9ce08c824528a1cde571f4d79096f1623de7600cafa26932e2d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143" y="6107711"/>
            <a:ext cx="2254230" cy="1506124"/>
          </a:xfrm>
          <a:prstGeom prst="rect">
            <a:avLst/>
          </a:prstGeom>
        </p:spPr>
      </p:pic>
      <p:pic>
        <p:nvPicPr>
          <p:cNvPr id="5" name="Picture 4" descr="13bc4ff15f80f51527ce3bda9d04908b91aefb6f6d55456cac596b90792bdab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3821" y="1381307"/>
            <a:ext cx="574607" cy="5408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57363" y="1447877"/>
            <a:ext cx="2843572" cy="39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latin typeface="Microsoft YaHei"/>
              </a:defRPr>
            </a:pPr>
            <a:r>
              <a:t>产品定位与核心优势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36360" y="1988750"/>
            <a:ext cx="7248899" cy="674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latin typeface="Microsoft YaHei"/>
              </a:defRPr>
            </a:pPr>
            <a:r>
              <a:t>作为TP-LINK第6代筒机，实现全方位超越。搭载AI-ISP重塑图像处理范式，智能区分“噪声”与“有效信号”，显著提升清晰度与细节。</a:t>
            </a:r>
          </a:p>
        </p:txBody>
      </p:sp>
      <p:pic>
        <p:nvPicPr>
          <p:cNvPr id="8" name="Picture 7" descr="70ac042f7bb36e374a75edfa139c4b3509c282b87cfef858e7832df2befd27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2755" y="3203635"/>
            <a:ext cx="456739" cy="5658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2629" y="3286847"/>
            <a:ext cx="2843572" cy="391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latin typeface="Microsoft YaHei"/>
              </a:defRPr>
            </a:pPr>
            <a:r>
              <a:t>硬件升级与散热系统</a:t>
            </a:r>
          </a:p>
        </p:txBody>
      </p:sp>
      <p:pic>
        <p:nvPicPr>
          <p:cNvPr id="10" name="Picture 9" descr="fb34f247fa90b2bfcafbf214906106a133875aacabecccdd7b233541b25f790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9336" y="3203635"/>
            <a:ext cx="545140" cy="5159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65827" y="3827720"/>
            <a:ext cx="6571156" cy="139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Microsoft YaHei"/>
              </a:defRPr>
            </a:pPr>
            <a:r>
              <a:t>- 补光系统：外置8颗大功率双色灯（数量提升4倍，距离提升50%），支持全彩/红外/移动侦测全彩。</a:t>
            </a:r>
            <a:br/>
            <a:r>
              <a:t>- 散热系统：散热面积  +67.4%  ，热导率  +11.4%  确保Sensor高温下稳定工作。</a:t>
            </a:r>
          </a:p>
        </p:txBody>
      </p:sp>
      <p:pic>
        <p:nvPicPr>
          <p:cNvPr id="12" name="Picture 11" descr="bdbd5eb265d277a1241bf58ded31ce7ab5fe27039000cc446e62fcadf066140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2755" y="5583479"/>
            <a:ext cx="486206" cy="5242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57363" y="5641727"/>
            <a:ext cx="2828838" cy="391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latin typeface="Microsoft YaHei"/>
              </a:defRPr>
            </a:pPr>
            <a:r>
              <a:t>智能功能与存储优化</a:t>
            </a:r>
          </a:p>
        </p:txBody>
      </p:sp>
      <p:pic>
        <p:nvPicPr>
          <p:cNvPr id="14" name="Picture 13" descr="9a79e599262fb50e131c3ad94f40c93fd5c9af25fd96bb89a02f71de7b056ad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9336" y="5583479"/>
            <a:ext cx="427272" cy="52423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65827" y="6215885"/>
            <a:ext cx="4213790" cy="1372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latin typeface="Microsoft YaHei"/>
              </a:defRPr>
            </a:pPr>
            <a:r>
              <a:t>AI侦测：人形/车辆精准识别，白昼识别距离达50米。</a:t>
            </a:r>
            <a:br/>
            <a:r>
              <a:t>- 存储黑科技：Super H.265+智能编码，额外节省30%空间。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36357" y="5650048"/>
            <a:ext cx="1311284" cy="3827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latin typeface="Microsoft YaHei"/>
              </a:defRPr>
            </a:pPr>
            <a:r>
              <a:t>规格底座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36357" y="6190922"/>
            <a:ext cx="2725703" cy="9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latin typeface="Microsoft YaHei"/>
              </a:defRPr>
            </a:pPr>
            <a:r>
              <a:t>- 分辨率：2560*1440 @ 25fps</a:t>
            </a:r>
            <a:br/>
            <a:r>
              <a:t>- 防护：IP67防尘防水</a:t>
            </a:r>
            <a:br/>
            <a:r>
              <a:t>·供电：PoE/12VDC双供电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3509" y="6598658"/>
            <a:ext cx="2401566" cy="391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latin typeface="Microsoft YaHei"/>
              </a:defRPr>
            </a:pPr>
            <a:r>
              <a:t>冰河1.0散热系统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4607" y="308193"/>
            <a:ext cx="12494037" cy="50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>
                <a:latin typeface="Microsoft YaHei"/>
              </a:defRPr>
            </a:pPr>
            <a:r>
              <a:t>【半球力作】400万PoE音频双光网络摄像机（TL-IPC445GP-W4）</a:t>
            </a:r>
          </a:p>
        </p:txBody>
      </p:sp>
      <p:pic>
        <p:nvPicPr>
          <p:cNvPr id="3" name="Picture 2" descr="8bdb651bd398f456d0062edbd695973ccd2e8a4102ecf36ffde536d0beed369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892" y="1116160"/>
            <a:ext cx="3418180" cy="3864913"/>
          </a:xfrm>
          <a:prstGeom prst="rect">
            <a:avLst/>
          </a:prstGeom>
        </p:spPr>
      </p:pic>
      <p:pic>
        <p:nvPicPr>
          <p:cNvPr id="4" name="Picture 3" descr="ebbda4f62ec7ffaaa622d1376b6d1ca10f7c186ad1cdc14936d826f86cc8e96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41" y="5106017"/>
            <a:ext cx="3005641" cy="2832048"/>
          </a:xfrm>
          <a:prstGeom prst="rect">
            <a:avLst/>
          </a:prstGeom>
        </p:spPr>
      </p:pic>
      <p:pic>
        <p:nvPicPr>
          <p:cNvPr id="5" name="Picture 4" descr="5834e1a3cc1622b7d7db284d95f9383761e0745112babefa286b085931a7af1f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1722" y="5106017"/>
            <a:ext cx="2519434" cy="2832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07833" y="1066182"/>
            <a:ext cx="2887772" cy="3498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Microsoft YaHei"/>
              </a:defRPr>
            </a:pPr>
            <a:r>
              <a:t>1. 全新设计：灵活安装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767" y="1474331"/>
            <a:ext cx="6851093" cy="591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latin typeface="Microsoft YaHei"/>
              </a:defRPr>
            </a:pPr>
            <a:r>
              <a:t>第6代全新面貌，自带分离式支架。支持吸顶/壁挂双安装，灵活适配走廊及开阔场景。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3099" y="2165684"/>
            <a:ext cx="3167709" cy="333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latin typeface="Microsoft YaHei"/>
              </a:defRPr>
            </a:pPr>
            <a:r>
              <a:t>2. 画质与智能：金属前球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6767" y="2557173"/>
            <a:ext cx="6747958" cy="591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latin typeface="Microsoft YaHei"/>
              </a:defRPr>
            </a:pPr>
            <a:r>
              <a:t>采用金属前球设计，大幅降低温升，高温环境成像更稳。具备AI人车非识别及ROI区域增强。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93099" y="3240196"/>
            <a:ext cx="3447647" cy="341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latin typeface="Microsoft YaHei"/>
              </a:defRPr>
            </a:pPr>
            <a:r>
              <a:t>3. 独家功能：智能车牌模式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6767" y="3648344"/>
            <a:ext cx="6630090" cy="291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latin typeface="Microsoft YaHei"/>
              </a:defRPr>
            </a:pPr>
            <a:r>
              <a:t>检测到车辆进入时自动开启车牌模式，防止车牌过曝，确保信息可见。</a:t>
            </a:r>
          </a:p>
        </p:txBody>
      </p:sp>
      <p:pic>
        <p:nvPicPr>
          <p:cNvPr id="12" name="Picture 11" descr="c3d884fa924067611d3557eb3ffd34e3091ca01b1b8ecd4232615248f228d9b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6767" y="4039834"/>
            <a:ext cx="3432913" cy="1999093"/>
          </a:xfrm>
          <a:prstGeom prst="rect">
            <a:avLst/>
          </a:prstGeom>
        </p:spPr>
      </p:pic>
      <p:pic>
        <p:nvPicPr>
          <p:cNvPr id="13" name="Picture 12" descr="5f61fc5300d2fd5b1a8e2ed42e7ec063cd0a854b584751e08869f1dec0ac3a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348" y="4039834"/>
            <a:ext cx="3432913" cy="19824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73348" y="6113893"/>
            <a:ext cx="604074" cy="183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latin typeface="Microsoft YaHei"/>
              </a:defRPr>
            </a:pPr>
            <a:r>
              <a:t>车牌模式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73348" y="6338791"/>
            <a:ext cx="2327898" cy="1665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latin typeface="Microsoft YaHei"/>
              </a:defRPr>
            </a:pPr>
            <a:r>
              <a:t>智能调节曝光，防止车牌过曝，看清车牌信息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73348" y="6538700"/>
            <a:ext cx="3418180" cy="158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>
                <a:latin typeface="Microsoft YaHei"/>
              </a:defRPr>
            </a:pPr>
            <a:r>
              <a:t>*车牌模式仅在白光补光模式下正常生效，使用车牌模式的调光切换到白光补光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6767" y="6863553"/>
            <a:ext cx="1753290" cy="3331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latin typeface="Microsoft YaHei"/>
              </a:defRPr>
            </a:pPr>
            <a:r>
              <a:t>4. 夜视与覆盖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6767" y="7296689"/>
            <a:ext cx="4434793" cy="6580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latin typeface="Microsoft YaHei"/>
              </a:defRPr>
            </a:pPr>
            <a:r>
              <a:t>- 2暖光+2红外，支持白光震慑。</a:t>
            </a:r>
            <a:br/>
            <a:r>
              <a:t>- 调节角度：水平  360°  /垂直  75°  全方位覆盖。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2566" y="6038927"/>
            <a:ext cx="589341" cy="1915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latin typeface="Microsoft YaHei"/>
              </a:defRPr>
            </a:pPr>
            <a:r>
              <a:t>普通模式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7679" y="599121"/>
            <a:ext cx="9399995" cy="640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500">
                <a:latin typeface="Microsoft YaHei"/>
              </a:defRPr>
            </a:pPr>
            <a:r>
              <a:t>【专家课堂】监控摄像头的焦距如何选择？</a:t>
            </a:r>
          </a:p>
        </p:txBody>
      </p:sp>
      <p:pic>
        <p:nvPicPr>
          <p:cNvPr id="3" name="Picture 2" descr="b3f806ed9acd3f29246186515b49b3a1cce5c5d1ad9714fb076805b20c644b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209" y="1814006"/>
            <a:ext cx="13274914" cy="234655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6143" y="4218814"/>
          <a:ext cx="13171780" cy="2604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5890"/>
                <a:gridCol w="6585890"/>
              </a:tblGrid>
              <a:tr h="434085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latin typeface="Microsoft YaHei"/>
                        </a:rPr>
                        <a:t>镜头毫米数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latin typeface="Microsoft YaHei"/>
                        </a:rPr>
                        <a:t>适用场景推荐</a:t>
                      </a:r>
                    </a:p>
                  </a:txBody>
                  <a:tcPr anchor="ctr"/>
                </a:tc>
              </a:tr>
              <a:tr h="434085"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2.8mm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适用：车库、储藏室、电梯（狭小空间）</a:t>
                      </a:r>
                    </a:p>
                  </a:txBody>
                  <a:tcPr anchor="ctr"/>
                </a:tc>
              </a:tr>
              <a:tr h="434085"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4mm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适用：家庭室内客厅、小商铺</a:t>
                      </a:r>
                    </a:p>
                  </a:txBody>
                  <a:tcPr anchor="ctr"/>
                </a:tc>
              </a:tr>
              <a:tr h="434085"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6mm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适用：庭院、门口、阳台</a:t>
                      </a:r>
                    </a:p>
                  </a:txBody>
                  <a:tcPr anchor="ctr"/>
                </a:tc>
              </a:tr>
              <a:tr h="434085"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8mm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适用：室外道路、长胡同</a:t>
                      </a:r>
                    </a:p>
                  </a:txBody>
                  <a:tcPr anchor="ctr"/>
                </a:tc>
              </a:tr>
              <a:tr h="434089"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12mm/16mm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>
                          <a:latin typeface="Microsoft YaHei"/>
                        </a:rPr>
                        <a:t>适用：远端车位、特定远距离监控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4545" y="7056320"/>
            <a:ext cx="12965510" cy="657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latin typeface="Microsoft YaHei"/>
              </a:defRPr>
            </a:pPr>
            <a:r>
              <a:t>专家建议：核心原则——焦距越小，看得越近且视野广；焦距越大，看得越远但视野窄。如需兼顾远近，请选择双摄变焦机型。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6611" y="1397950"/>
            <a:ext cx="3167709" cy="357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latin typeface="Microsoft YaHei"/>
              </a:defRPr>
            </a:pPr>
            <a:r>
              <a:t>Cone of Vision Diagram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6143" y="383159"/>
            <a:ext cx="8722252" cy="599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300">
                <a:latin typeface="Microsoft YaHei"/>
              </a:defRPr>
            </a:pPr>
            <a:r>
              <a:t>【存储宝典】像素区别与存储容量的关系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4607" y="1565956"/>
            <a:ext cx="4169590" cy="399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latin typeface="Microsoft YaHei"/>
              </a:defRPr>
            </a:pPr>
            <a:r>
              <a:t>画质差异：200W vs 400W</a:t>
            </a:r>
          </a:p>
        </p:txBody>
      </p:sp>
      <p:pic>
        <p:nvPicPr>
          <p:cNvPr id="4" name="Picture 3" descr="b4be23d0d637551ab8aa7b3691cb323077140b6bb216a684e829e21247ff773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74" y="2323945"/>
            <a:ext cx="3182443" cy="3806606"/>
          </a:xfrm>
          <a:prstGeom prst="rect">
            <a:avLst/>
          </a:prstGeom>
        </p:spPr>
      </p:pic>
      <p:pic>
        <p:nvPicPr>
          <p:cNvPr id="5" name="Picture 4" descr="08f7791ff5de98469ab3fa0aabbfa7062eec7f4d578176efe1c32a84a45953f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6518" y="2323945"/>
            <a:ext cx="3182443" cy="38066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275" y="6621995"/>
            <a:ext cx="6173351" cy="791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latin typeface="Microsoft YaHei"/>
              </a:defRPr>
            </a:pPr>
            <a:r>
              <a:t>400W像素提供更多面部/车牌细节，但码流更大，普通H.265录像每天需40GB+。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7770" y="1565956"/>
            <a:ext cx="6497488" cy="449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latin typeface="Microsoft YaHei"/>
              </a:defRPr>
            </a:pPr>
            <a:r>
              <a:t>TP-LINK黑科技：Super H.265+智能编码</a:t>
            </a:r>
          </a:p>
        </p:txBody>
      </p:sp>
      <p:pic>
        <p:nvPicPr>
          <p:cNvPr id="8" name="Picture 7" descr="ea42d0f748e4d16f71b0c7cb50fa0940823a5cf8a49603d101daef67dea82f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9902" y="2465548"/>
            <a:ext cx="6689024" cy="346509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46704" y="6621995"/>
            <a:ext cx="6305952" cy="1182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>
                <a:latin typeface="Microsoft YaHei"/>
              </a:defRPr>
            </a:pPr>
            <a:r>
              <a:t>TP-SRC码控算法：摄像头根据环境复杂度动态调整码率。在保证画质前提下，大幅降低硬盘成本。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18180" y="897774"/>
            <a:ext cx="7882441" cy="7730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>
                <a:latin typeface="Microsoft YaHei"/>
              </a:defRPr>
            </a:pPr>
            <a:r>
              <a:t>总结：赋能安防，智见未来</a:t>
            </a:r>
          </a:p>
        </p:txBody>
      </p:sp>
      <p:pic>
        <p:nvPicPr>
          <p:cNvPr id="3" name="Picture 2" descr="ea4ff6e74b877ed779647036e2e05ef67344e959118ec91ef9026a6af47ef4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359" y="2784763"/>
            <a:ext cx="1090281" cy="7148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8557" y="3890356"/>
            <a:ext cx="1458619" cy="432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latin typeface="Microsoft YaHei"/>
              </a:defRPr>
            </a:pPr>
            <a:r>
              <a:t>画质革新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9748" y="4480560"/>
            <a:ext cx="2666769" cy="1022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Microsoft YaHei"/>
              </a:defRPr>
            </a:pPr>
            <a:r>
              <a:t>-AI-ISP技术加持，第6代产品实现夜视与清晰度的双重飞跃。</a:t>
            </a:r>
          </a:p>
        </p:txBody>
      </p:sp>
      <p:pic>
        <p:nvPicPr>
          <p:cNvPr id="6" name="Picture 5" descr="db8a4c635b527b321f11f964d4e0a7a4e8ec3f11ff5baeef53bb093726b3e7d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0404" y="2660072"/>
            <a:ext cx="972413" cy="980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79934" y="3890356"/>
            <a:ext cx="1488087" cy="432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>
                <a:latin typeface="Microsoft YaHei"/>
              </a:defRPr>
            </a:pPr>
            <a:r>
              <a:t>硬件硬核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9527" y="4480560"/>
            <a:ext cx="2607835" cy="1022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latin typeface="Microsoft YaHei"/>
              </a:defRPr>
            </a:pPr>
            <a:r>
              <a:t>-冰河散热系统与4倍补 光灯数量，解决户外监 控痛点。</a:t>
            </a:r>
          </a:p>
        </p:txBody>
      </p:sp>
      <p:pic>
        <p:nvPicPr>
          <p:cNvPr id="9" name="Picture 8" descr="f21a4cbdde9bcf8eed6c8ace69b2745b6dfc5fe61b03418151ed9d7ca2d7bf6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0716" y="2743200"/>
            <a:ext cx="854545" cy="8063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6045" y="3890356"/>
            <a:ext cx="1458619" cy="432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latin typeface="Microsoft YaHei"/>
              </a:defRPr>
            </a:pPr>
            <a:r>
              <a:t>安装灵活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0372" y="4480560"/>
            <a:ext cx="2578368" cy="1022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>
                <a:latin typeface="Microsoft YaHei"/>
              </a:defRPr>
            </a:pPr>
            <a:r>
              <a:t>- 新一代半球与筒机设计，适配从家庭到商铺的全场景需求。</a:t>
            </a:r>
          </a:p>
        </p:txBody>
      </p:sp>
      <p:pic>
        <p:nvPicPr>
          <p:cNvPr id="12" name="Picture 11" descr="3041252b24171510ca6f1ad6ff4b1e00c833c207f4f3714e96f013a7d0205b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31028" y="2693323"/>
            <a:ext cx="766143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77423" y="3890356"/>
            <a:ext cx="1473353" cy="4322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>
                <a:latin typeface="Microsoft YaHei"/>
              </a:defRPr>
            </a:pPr>
            <a:r>
              <a:t>降本增效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6483" y="4497185"/>
            <a:ext cx="244576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Microsoft YaHei"/>
              </a:defRPr>
            </a:pPr>
            <a:r>
              <a:t>- Super H.265+ 智能编码，大幅降低存储成本。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4354" y="6650181"/>
            <a:ext cx="1900625" cy="324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latin typeface="Microsoft YaHei"/>
              </a:defRPr>
            </a:pPr>
            <a:r>
              <a:t>TP-LINK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2599" y="7107381"/>
            <a:ext cx="4876800" cy="290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latin typeface="Microsoft YaHei"/>
              </a:defRPr>
            </a:pPr>
            <a:r>
              <a:t>更多详情及项目支持，请咨询省终端公司销售代表。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