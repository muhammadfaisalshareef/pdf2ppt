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077" y="2248979"/>
            <a:ext cx="3211910" cy="35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终端月报 (2026年第1期)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9811" y="2790400"/>
            <a:ext cx="6026015" cy="91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latin typeface="Microsoft YaHei"/>
              </a:defRPr>
            </a:pPr>
            <a:r>
              <a:t>TP-LINK监控篇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811" y="3939879"/>
            <a:ext cx="5186204" cy="1232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latin typeface="Microsoft YaHei"/>
              </a:defRPr>
            </a:pPr>
            <a:r>
              <a:t>第6代AI-ISP技术革新与专业选型指南</a:t>
            </a:r>
          </a:p>
        </p:txBody>
      </p:sp>
      <p:pic>
        <p:nvPicPr>
          <p:cNvPr id="5" name="Picture 4" descr="53b6f2ebbe08d27134cb54455f366d371172a2d51882f796d59c720479b6431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429" y="1391035"/>
            <a:ext cx="7528836" cy="59389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9811" y="7479940"/>
            <a:ext cx="2696236" cy="31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Microsoft YaHei"/>
              </a:defRPr>
            </a:pPr>
            <a:r>
              <a:t>省终端公司|2026年1月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4851" y="8063008"/>
            <a:ext cx="1075548" cy="166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latin typeface="Microsoft YaHei"/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7742" y="382772"/>
            <a:ext cx="13333848" cy="54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Microsoft YaHei"/>
              </a:defRPr>
            </a:pPr>
            <a:r>
              <a:t>【G系精选】第6代400万PoE筒型音频双光全彩摄像机 (TL-IPC548GP-W4)</a:t>
            </a:r>
          </a:p>
        </p:txBody>
      </p:sp>
      <p:pic>
        <p:nvPicPr>
          <p:cNvPr id="3" name="Picture 2" descr="df65e25d91e198c11e6dd5a5a2f7b920f27dceb319f39d7413a56714657c2d5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46" y="1447877"/>
            <a:ext cx="4979934" cy="4343631"/>
          </a:xfrm>
          <a:prstGeom prst="rect">
            <a:avLst/>
          </a:prstGeom>
        </p:spPr>
      </p:pic>
      <p:pic>
        <p:nvPicPr>
          <p:cNvPr id="4" name="Picture 3" descr="315e97efba9e9ce08c824528a1cde571f4d79096f1623de7600cafa26932e2d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43" y="6107711"/>
            <a:ext cx="2254230" cy="1506124"/>
          </a:xfrm>
          <a:prstGeom prst="rect">
            <a:avLst/>
          </a:prstGeom>
        </p:spPr>
      </p:pic>
      <p:pic>
        <p:nvPicPr>
          <p:cNvPr id="5" name="Picture 4" descr="13bc4ff15f80f51527ce3bda9d04908b91aefb6f6d55456cac596b90792bdab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821" y="1381307"/>
            <a:ext cx="574607" cy="540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57363" y="1447877"/>
            <a:ext cx="2843572" cy="39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Microsoft YaHei"/>
              </a:defRPr>
            </a:pPr>
            <a:r>
              <a:t>产品定位与核心优势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6360" y="1988750"/>
            <a:ext cx="7248899" cy="674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作为TP-LINK第6代筒机，实现全方位超越。搭载AI-ISP重塑图像处理范式，智能区分“噪声”与“有效信号”，显著提升清晰度与细节。</a:t>
            </a:r>
          </a:p>
        </p:txBody>
      </p:sp>
      <p:pic>
        <p:nvPicPr>
          <p:cNvPr id="8" name="Picture 7" descr="70ac042f7bb36e374a75edfa139c4b3509c282b87cfef858e7832df2befd275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755" y="3203635"/>
            <a:ext cx="456739" cy="5658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2629" y="3286847"/>
            <a:ext cx="2843572" cy="391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Microsoft YaHei"/>
              </a:defRPr>
            </a:pPr>
            <a:r>
              <a:t>硬件升级与散热系统</a:t>
            </a:r>
          </a:p>
        </p:txBody>
      </p:sp>
      <p:pic>
        <p:nvPicPr>
          <p:cNvPr id="10" name="Picture 9" descr="fb34f247fa90b2bfcafbf214906106a133875aacabecccdd7b233541b25f790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9336" y="3203635"/>
            <a:ext cx="545140" cy="5159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65827" y="3827720"/>
            <a:ext cx="6571156" cy="139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- 补光系统：外置8颗大功率双色灯（数量提升4倍，距离提升50%），支持全彩/红外/移动侦测全彩。</a:t>
            </a:r>
            <a:br/>
            <a:r>
              <a:t>- 散热系统：散热面积  $+67.4\%$  ，热导率  $+11.4\%$  确保Sensor高温下稳定工作。</a:t>
            </a:r>
          </a:p>
        </p:txBody>
      </p:sp>
      <p:pic>
        <p:nvPicPr>
          <p:cNvPr id="12" name="Picture 11" descr="bdbd5eb265d277a1241bf58ded31ce7ab5fe27039000cc446e62fcadf06614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2755" y="5583479"/>
            <a:ext cx="486206" cy="5242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57363" y="5641727"/>
            <a:ext cx="2828838" cy="391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Microsoft YaHei"/>
              </a:defRPr>
            </a:pPr>
            <a:r>
              <a:t>智能功能与存储优化</a:t>
            </a:r>
          </a:p>
        </p:txBody>
      </p:sp>
      <p:pic>
        <p:nvPicPr>
          <p:cNvPr id="14" name="Picture 13" descr="9a79e599262fb50e131c3ad94f40c93fd5c9af25fd96bb89a02f71de7b056ad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9336" y="5583479"/>
            <a:ext cx="427272" cy="5242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65827" y="6215885"/>
            <a:ext cx="4213790" cy="137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AI侦测：人形/车辆精准识别，白昼识别距离达50米。</a:t>
            </a:r>
            <a:br/>
            <a:r>
              <a:t>- 存储黑科技：Super H.265+智能编码，额外节省30%空间。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36357" y="5650048"/>
            <a:ext cx="1311284" cy="382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规格底座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36357" y="6190922"/>
            <a:ext cx="2725703" cy="9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Microsoft YaHei"/>
              </a:defRPr>
            </a:pPr>
            <a:r>
              <a:t>- 分辨率：2560*1440 @ 25fps</a:t>
            </a:r>
            <a:br/>
            <a:r>
              <a:t>- 防护：IP67防尘防水</a:t>
            </a:r>
            <a:br/>
            <a:r>
              <a:t>·供电：PoE/12VDC双供电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54851" y="8054856"/>
            <a:ext cx="1075548" cy="174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latin typeface="Microsoft YaHei"/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4607" y="308818"/>
            <a:ext cx="12479303" cy="5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Microsoft YaHei"/>
              </a:defRPr>
            </a:pPr>
            <a:r>
              <a:t>【半球力作】400万PoE音频双光网络摄像机（TL-IPC445GP-W4）</a:t>
            </a:r>
          </a:p>
        </p:txBody>
      </p:sp>
      <p:pic>
        <p:nvPicPr>
          <p:cNvPr id="3" name="Picture 2" descr="8bdb651bd398f456d0062edbd695973ccd2e8a4102ecf36ffde536d0beed369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92" y="1118424"/>
            <a:ext cx="3418180" cy="3872752"/>
          </a:xfrm>
          <a:prstGeom prst="rect">
            <a:avLst/>
          </a:prstGeom>
        </p:spPr>
      </p:pic>
      <p:pic>
        <p:nvPicPr>
          <p:cNvPr id="4" name="Picture 3" descr="85dddbc5c7fc454b61fe935ec40dbaaeaa10d3484a686fd947bcd26ae193cd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41" y="5124720"/>
            <a:ext cx="3005641" cy="2829446"/>
          </a:xfrm>
          <a:prstGeom prst="rect">
            <a:avLst/>
          </a:prstGeom>
        </p:spPr>
      </p:pic>
      <p:pic>
        <p:nvPicPr>
          <p:cNvPr id="5" name="Picture 4" descr="4d69b2eab21e8664f124ac4dbc7d90d30db1c08a0354b459aaf2092da6929fc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722" y="5124720"/>
            <a:ext cx="2519434" cy="2829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07833" y="1068345"/>
            <a:ext cx="2887772" cy="35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1. 全新设计：灵活安装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767" y="1477321"/>
            <a:ext cx="6851093" cy="592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Microsoft YaHei"/>
              </a:defRPr>
            </a:pPr>
            <a:r>
              <a:t>第6代全新面貌，自带分离式支架。支持吸顶/壁挂双安装，灵活适配走廊及开阔场景。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93099" y="2170077"/>
            <a:ext cx="3167709" cy="33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2. 画质与智能：金属前球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767" y="2562360"/>
            <a:ext cx="6747958" cy="592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采用金属前球设计，大幅降低温升，高温环境成像更稳。具备AI人车非识别及ROI区域增强。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3099" y="3246769"/>
            <a:ext cx="3447647" cy="342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3. 独家功能：智能车牌模式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767" y="3655745"/>
            <a:ext cx="6630090" cy="292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Microsoft YaHei"/>
              </a:defRPr>
            </a:pPr>
            <a:r>
              <a:t>检测到车辆进入时自动开启车牌模式，防止车牌过曝，确保信息可见。</a:t>
            </a:r>
          </a:p>
        </p:txBody>
      </p:sp>
      <p:pic>
        <p:nvPicPr>
          <p:cNvPr id="12" name="Picture 11" descr="c3d884fa924067611d3557eb3ffd34e3091ca01b1b8ecd4232615248f228d9b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767" y="4048028"/>
            <a:ext cx="3432913" cy="2003148"/>
          </a:xfrm>
          <a:prstGeom prst="rect">
            <a:avLst/>
          </a:prstGeom>
        </p:spPr>
      </p:pic>
      <p:pic>
        <p:nvPicPr>
          <p:cNvPr id="13" name="Picture 12" descr="5f61fc5300d2fd5b1a8e2ed42e7ec063cd0a854b584751e08869f1dec0ac3a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348" y="4048028"/>
            <a:ext cx="3432913" cy="198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73348" y="6126294"/>
            <a:ext cx="604074" cy="183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Microsoft YaHei"/>
              </a:defRPr>
            </a:pPr>
            <a:r>
              <a:t>车牌模式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73348" y="6351648"/>
            <a:ext cx="2327898" cy="166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latin typeface="Microsoft YaHei"/>
              </a:defRPr>
            </a:pPr>
            <a:r>
              <a:t>智能调节曝光，防止车牌过曝，看清车牌信息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73348" y="6551963"/>
            <a:ext cx="3418180" cy="15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>
                <a:latin typeface="Microsoft YaHei"/>
              </a:defRPr>
            </a:pPr>
            <a:r>
              <a:t>*车牌模式仅在白光补光模式下正常生效，使用车牌模式的调光切换到白光补光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6767" y="6877475"/>
            <a:ext cx="1753290" cy="33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4. 夜视与覆盖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767" y="7311490"/>
            <a:ext cx="4434793" cy="64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Microsoft YaHei"/>
              </a:defRPr>
            </a:pPr>
            <a:r>
              <a:t>- 2暖光+2红外，支持白光震慑。</a:t>
            </a:r>
            <a:br/>
            <a:r>
              <a:t>- 调节角度：水平  $360^{\circ}$  /垂直  $75^{\circ}$  全方位覆盖。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54851" y="8079363"/>
            <a:ext cx="1075548" cy="15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>
                <a:latin typeface="Microsoft YaHei"/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7679" y="599121"/>
            <a:ext cx="9399995" cy="64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latin typeface="Microsoft YaHei"/>
              </a:defRPr>
            </a:pPr>
            <a:r>
              <a:t>【专家课堂】监控摄像头的焦距如何选择？</a:t>
            </a:r>
          </a:p>
        </p:txBody>
      </p:sp>
      <p:pic>
        <p:nvPicPr>
          <p:cNvPr id="3" name="Picture 2" descr="b3f806ed9acd3f29246186515b49b3a1cce5c5d1ad9714fb076805b20c644b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09" y="1814006"/>
            <a:ext cx="13274914" cy="2346559"/>
          </a:xfrm>
          <a:prstGeom prst="rect">
            <a:avLst/>
          </a:prstGeom>
        </p:spPr>
      </p:pic>
      <p:pic>
        <p:nvPicPr>
          <p:cNvPr id="4" name="Picture 3" descr="e665a80d25e40c2ef5dfd78fbd9cd188acd7be59a7e4f136ae57e528fc4ea2d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43" y="4218814"/>
            <a:ext cx="13171780" cy="2604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545" y="7056320"/>
            <a:ext cx="12965510" cy="65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Microsoft YaHei"/>
              </a:defRPr>
            </a:pPr>
            <a:r>
              <a:t>专家建议：核心原则——焦距越小，看得越近且视野广；焦距越大，看得越远但视野窄。如需兼顾远近，请选择双摄变焦机型。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54851" y="8054856"/>
            <a:ext cx="1075548" cy="174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latin typeface="Microsoft YaHei"/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6143" y="382385"/>
            <a:ext cx="8722252" cy="598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latin typeface="Microsoft YaHei"/>
              </a:defRPr>
            </a:pPr>
            <a:r>
              <a:t>【存储宝典】像素区别与存储容量的关系</a:t>
            </a:r>
          </a:p>
        </p:txBody>
      </p:sp>
      <p:pic>
        <p:nvPicPr>
          <p:cNvPr id="3" name="Picture 2" descr="85bbfba0ec6e277396a1d58c613af5cc66bccae1a7e2ae9a29b3b7a3246ba86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41" y="2310938"/>
            <a:ext cx="3197177" cy="3807229"/>
          </a:xfrm>
          <a:prstGeom prst="rect">
            <a:avLst/>
          </a:prstGeom>
        </p:spPr>
      </p:pic>
      <p:pic>
        <p:nvPicPr>
          <p:cNvPr id="4" name="Picture 3" descr="e3ffca18764ce14aed4d17500c122b1a76e06b47b43822e42311fcf502fb87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518" y="2310938"/>
            <a:ext cx="3182443" cy="3807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275" y="6608618"/>
            <a:ext cx="6173351" cy="789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400W像素提供更多面部/车牌细节，但码流更大，普通H.265录像每天需40GB+。</a:t>
            </a:r>
          </a:p>
        </p:txBody>
      </p:sp>
      <p:pic>
        <p:nvPicPr>
          <p:cNvPr id="6" name="Picture 5" descr="4701477c861eace94917a2542cb15eac21a7dd71dcb006632e2fc8215bfefbd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902" y="2460567"/>
            <a:ext cx="6718491" cy="3458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46704" y="6608618"/>
            <a:ext cx="6305952" cy="118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Microsoft YaHei"/>
              </a:defRPr>
            </a:pPr>
            <a:r>
              <a:t>TP-SRC码控算法：摄像头根据环境复杂度动态调整码率。在保证画质前提下，大幅降低硬盘成本。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54851" y="8046720"/>
            <a:ext cx="1075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Microsoft YaHei"/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18180" y="897774"/>
            <a:ext cx="7882441" cy="773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>
                <a:latin typeface="Microsoft YaHei"/>
              </a:defRPr>
            </a:pPr>
            <a:r>
              <a:t>总结：赋能安防，智见未来</a:t>
            </a:r>
          </a:p>
        </p:txBody>
      </p:sp>
      <p:pic>
        <p:nvPicPr>
          <p:cNvPr id="3" name="Picture 2" descr="ea4ff6e74b877ed779647036e2e05ef67344e959118ec91ef9026a6af47ef4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359" y="2784763"/>
            <a:ext cx="1090281" cy="714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8557" y="3890356"/>
            <a:ext cx="1458619" cy="43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Microsoft YaHei"/>
              </a:defRPr>
            </a:pPr>
            <a:r>
              <a:t>画质革新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748" y="4480560"/>
            <a:ext cx="2666769" cy="102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-AI-ISP技术加持，第6代产品实现夜视与清晰度的双重飞跃。</a:t>
            </a:r>
          </a:p>
        </p:txBody>
      </p:sp>
      <p:pic>
        <p:nvPicPr>
          <p:cNvPr id="6" name="Picture 5" descr="db8a4c635b527b321f11f964d4e0a7a4e8ec3f11ff5baeef53bb093726b3e7d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404" y="2660072"/>
            <a:ext cx="972413" cy="9809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79934" y="3890356"/>
            <a:ext cx="1488087" cy="43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Microsoft YaHei"/>
              </a:defRPr>
            </a:pPr>
            <a:r>
              <a:t>硬件硬核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9527" y="4480560"/>
            <a:ext cx="2622569" cy="102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-冰河散热系统与4倍补 光灯数量，解决户外监 控痛点。</a:t>
            </a:r>
          </a:p>
        </p:txBody>
      </p:sp>
      <p:pic>
        <p:nvPicPr>
          <p:cNvPr id="9" name="Picture 8" descr="1ed4b8b8261512fc3b74857b61515fc35618a9c1d883e5a727176a9f3d7fd0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716" y="2743200"/>
            <a:ext cx="869278" cy="814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6045" y="3890356"/>
            <a:ext cx="1473353" cy="43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Microsoft YaHei"/>
              </a:defRPr>
            </a:pPr>
            <a:r>
              <a:t>安装灵活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0372" y="4480560"/>
            <a:ext cx="2578368" cy="102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- 新一代半球与筒机设计，适配从家庭到商铺的全场景需求。</a:t>
            </a:r>
          </a:p>
        </p:txBody>
      </p:sp>
      <p:pic>
        <p:nvPicPr>
          <p:cNvPr id="12" name="Picture 11" descr="eda7e0cb53f34264e44e8b47e3bab6b66da7ee2dfb1b6f0b7b279e2411f53a3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1028" y="2693323"/>
            <a:ext cx="766143" cy="931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7423" y="3890356"/>
            <a:ext cx="1488087" cy="43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Microsoft YaHei"/>
              </a:defRPr>
            </a:pPr>
            <a:r>
              <a:t>降本增效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6483" y="4497185"/>
            <a:ext cx="244576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- Super H.265+ 智能编码，大幅降低存储成本。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4354" y="6650181"/>
            <a:ext cx="1900625" cy="324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TP-LINK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2599" y="7107381"/>
            <a:ext cx="4876800" cy="29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Microsoft YaHei"/>
              </a:defRPr>
            </a:pPr>
            <a:r>
              <a:t>更多详情及项目支持，请咨询省终端公司销售代表。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54851" y="8046720"/>
            <a:ext cx="1075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Microsoft YaHei"/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